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sldIdLst>
    <p:sldId id="256" r:id="rId2"/>
    <p:sldId id="257" r:id="rId3"/>
    <p:sldId id="259" r:id="rId4"/>
    <p:sldId id="260" r:id="rId5"/>
    <p:sldId id="261" r:id="rId6"/>
    <p:sldId id="265" r:id="rId7"/>
    <p:sldId id="264" r:id="rId8"/>
    <p:sldId id="262" r:id="rId9"/>
    <p:sldId id="266" r:id="rId10"/>
    <p:sldId id="275" r:id="rId11"/>
    <p:sldId id="267" r:id="rId12"/>
    <p:sldId id="268" r:id="rId13"/>
    <p:sldId id="274" r:id="rId14"/>
    <p:sldId id="269" r:id="rId15"/>
    <p:sldId id="270" r:id="rId16"/>
    <p:sldId id="271" r:id="rId17"/>
    <p:sldId id="272" r:id="rId18"/>
    <p:sldId id="273" r:id="rId19"/>
    <p:sldId id="279" r:id="rId20"/>
    <p:sldId id="276" r:id="rId21"/>
    <p:sldId id="278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81DBDCD-4221-4C63-839D-451A065AA195}">
          <p14:sldIdLst>
            <p14:sldId id="256"/>
            <p14:sldId id="257"/>
            <p14:sldId id="259"/>
            <p14:sldId id="260"/>
            <p14:sldId id="261"/>
            <p14:sldId id="265"/>
            <p14:sldId id="264"/>
            <p14:sldId id="262"/>
            <p14:sldId id="266"/>
            <p14:sldId id="275"/>
            <p14:sldId id="267"/>
            <p14:sldId id="268"/>
            <p14:sldId id="274"/>
            <p14:sldId id="269"/>
            <p14:sldId id="270"/>
            <p14:sldId id="271"/>
            <p14:sldId id="272"/>
            <p14:sldId id="273"/>
            <p14:sldId id="279"/>
            <p14:sldId id="276"/>
            <p14:sldId id="278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A83933-1617-22AF-7642-8084E2F5C1EB}" v="288" dt="2025-11-20T11:53:17.590"/>
    <p1510:client id="{E0F5F2F5-FD96-2E64-C94F-B12C2BA1526A}" v="1081" dt="2025-11-20T00:53:46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99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3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00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2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10515600" cy="10842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15778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3199"/>
            <a:ext cx="5157787" cy="3446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3199"/>
            <a:ext cx="5183188" cy="3446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34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9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0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83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4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6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61999"/>
            <a:ext cx="2628900" cy="5414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61999"/>
            <a:ext cx="7734300" cy="54149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9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AA70F276-1833-4A75-9C1D-A56E2295A68D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7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49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C31099-1BBD-40CE-BC60-FCE507419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BCBDFC-4ADF-4297-B113-3B3F524F2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63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1FC1EF-ABB9-4B80-9582-E47C76BD0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43200" y="0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88ED32-3423-429F-96E6-C5BF1A957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3990" y="1194074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C788C1-07E3-4AC3-B8E7-37A0856A0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439622" y="194269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Full frame shot of wall with worn-out sky blue paint">
            <a:extLst>
              <a:ext uri="{FF2B5EF4-FFF2-40B4-BE49-F238E27FC236}">
                <a16:creationId xmlns:a16="http://schemas.microsoft.com/office/drawing/2014/main" id="{0A85D6BB-421E-830B-4547-E83E553EE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5682" r="6" b="9915"/>
          <a:stretch>
            <a:fillRect/>
          </a:stretch>
        </p:blipFill>
        <p:spPr>
          <a:xfrm>
            <a:off x="20" y="10"/>
            <a:ext cx="12188932" cy="6857326"/>
          </a:xfrm>
          <a:prstGeom prst="rect">
            <a:avLst/>
          </a:prstGeom>
        </p:spPr>
      </p:pic>
      <p:sp>
        <p:nvSpPr>
          <p:cNvPr id="21" name="Frame 20">
            <a:extLst>
              <a:ext uri="{FF2B5EF4-FFF2-40B4-BE49-F238E27FC236}">
                <a16:creationId xmlns:a16="http://schemas.microsoft.com/office/drawing/2014/main" id="{BBB1F149-105F-4CE9-A59E-12133DCF5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64"/>
            <a:ext cx="12188952" cy="6858664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Grandview Display"/>
                <a:cs typeface="Angsana New"/>
              </a:rPr>
              <a:t>PROG6212 POE Part3 </a:t>
            </a:r>
            <a:endParaRPr lang="en-US" dirty="0">
              <a:solidFill>
                <a:srgbClr val="FFFFFF"/>
              </a:solidFill>
              <a:latin typeface="Grandview Display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Student Number: ST10443516</a:t>
            </a:r>
          </a:p>
          <a:p>
            <a:r>
              <a:rPr lang="en-US" sz="4400" dirty="0">
                <a:solidFill>
                  <a:srgbClr val="FFFFFF"/>
                </a:solidFill>
                <a:latin typeface="Grandview Display"/>
              </a:rPr>
              <a:t>Presentation Topic </a:t>
            </a:r>
          </a:p>
          <a:p>
            <a:r>
              <a:rPr lang="en-US" sz="2200" dirty="0">
                <a:solidFill>
                  <a:srgbClr val="FFFFFF"/>
                </a:solidFill>
              </a:rPr>
              <a:t>Contract Monthly Claim System</a:t>
            </a:r>
          </a:p>
          <a:p>
            <a:r>
              <a:rPr lang="en-US" sz="2200" dirty="0">
                <a:solidFill>
                  <a:srgbClr val="FFFFFF"/>
                </a:solidFill>
              </a:rPr>
              <a:t>Digital workflow for lecturer Claim Management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3C870-6457-A471-4C5E-EE82792F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cs typeface="Angsana New"/>
              </a:rPr>
              <a:t>What this Presentation covers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E049E-D7E1-F2AA-3FE8-12F7CC230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Key system updates from part 2 to part 3</a:t>
            </a:r>
            <a:endParaRPr lang="en-US" dirty="0"/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Full walk through of the CMCS user journey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Visual demonstration of all major features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UX/UI Improvements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The system value and impact </a:t>
            </a:r>
          </a:p>
          <a:p>
            <a:endParaRPr lang="en-US" dirty="0">
              <a:solidFill>
                <a:srgbClr val="201449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98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4E013-53B9-DE05-942B-BC6BCC606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9796733" cy="750469"/>
          </a:xfrm>
        </p:spPr>
        <p:txBody>
          <a:bodyPr>
            <a:normAutofit fontScale="90000"/>
          </a:bodyPr>
          <a:lstStyle/>
          <a:p>
            <a:r>
              <a:rPr lang="en-US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cs typeface="Angsana New"/>
              </a:rPr>
              <a:t>Part 2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84757-279C-1008-6A4B-B0B9B6473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228600" indent="0">
              <a:buNone/>
            </a:pPr>
            <a:endParaRPr lang="en-US">
              <a:solidFill>
                <a:srgbClr val="201449">
                  <a:alpha val="70000"/>
                </a:srgbClr>
              </a:solidFill>
            </a:endParaRPr>
          </a:p>
          <a:p>
            <a:pPr marL="285750" indent="-285750">
              <a:buClr>
                <a:srgbClr val="E4DEF6"/>
              </a:buClr>
              <a:buFont typeface="Wingdings"/>
              <a:buChar char="§"/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 </a:t>
            </a:r>
            <a:r>
              <a:rPr lang="en-US" sz="4800" b="1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Lecturer Functionality</a:t>
            </a:r>
            <a:endParaRPr lang="en-US" sz="4800" dirty="0">
              <a:solidFill>
                <a:srgbClr val="201449">
                  <a:alpha val="70000"/>
                </a:srgbClr>
              </a:solidFill>
              <a:latin typeface="Avenir Next LT Pro"/>
            </a:endParaRPr>
          </a:p>
          <a:p>
            <a:pPr marL="857250" lvl="1" indent="-171450">
              <a:buClr>
                <a:srgbClr val="E4DEF6"/>
              </a:buClr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Submit monthly claims</a:t>
            </a:r>
          </a:p>
          <a:p>
            <a:pPr marL="857250" lvl="1" indent="-171450">
              <a:buClr>
                <a:srgbClr val="E4DEF6"/>
              </a:buClr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Upload supporting documents</a:t>
            </a:r>
          </a:p>
          <a:p>
            <a:pPr marL="857250" lvl="1" indent="-171450"/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View (Track) list of submitted claims</a:t>
            </a:r>
            <a:endParaRPr lang="en-US" sz="4800">
              <a:solidFill>
                <a:srgbClr val="201449">
                  <a:alpha val="70000"/>
                </a:srgbClr>
              </a:solidFill>
              <a:latin typeface="Avenir Next LT Pro"/>
            </a:endParaRPr>
          </a:p>
          <a:p>
            <a:pPr>
              <a:buClr>
                <a:srgbClr val="E4DEF6"/>
              </a:buClr>
              <a:buFont typeface="Wingdings"/>
              <a:buChar char="§"/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 </a:t>
            </a:r>
            <a:r>
              <a:rPr lang="en-US" sz="4800" b="1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Coordinator Functionality</a:t>
            </a:r>
            <a:endParaRPr lang="en-US" sz="4800" dirty="0">
              <a:solidFill>
                <a:srgbClr val="201449">
                  <a:alpha val="70000"/>
                </a:srgbClr>
              </a:solidFill>
              <a:latin typeface="Avenir Next LT Pro"/>
            </a:endParaRPr>
          </a:p>
          <a:p>
            <a:pPr lvl="1">
              <a:buClr>
                <a:srgbClr val="E4DEF6"/>
              </a:buClr>
              <a:buFont typeface="Wingdings"/>
              <a:buChar char="§"/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View pending claims</a:t>
            </a:r>
          </a:p>
          <a:p>
            <a:pPr lvl="1">
              <a:buClr>
                <a:srgbClr val="E4DEF6"/>
              </a:buClr>
              <a:buFont typeface="Wingdings"/>
              <a:buChar char="§"/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Approve or reject lecturer claims</a:t>
            </a:r>
          </a:p>
          <a:p>
            <a:pPr>
              <a:buClr>
                <a:srgbClr val="E4DEF6"/>
              </a:buClr>
              <a:buFont typeface="Wingdings"/>
              <a:buChar char="§"/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 </a:t>
            </a:r>
            <a:r>
              <a:rPr lang="en-US" sz="4800" b="1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Manager Functionality</a:t>
            </a:r>
            <a:endParaRPr lang="en-US" sz="4800" dirty="0">
              <a:solidFill>
                <a:srgbClr val="201449">
                  <a:alpha val="70000"/>
                </a:srgbClr>
              </a:solidFill>
              <a:latin typeface="Avenir Next LT Pro"/>
            </a:endParaRPr>
          </a:p>
          <a:p>
            <a:pPr lvl="1">
              <a:buClr>
                <a:srgbClr val="E4DEF6"/>
              </a:buClr>
              <a:buFont typeface="Wingdings"/>
              <a:buChar char="§"/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View coordinator-approved claims</a:t>
            </a:r>
          </a:p>
          <a:p>
            <a:pPr lvl="1">
              <a:buClr>
                <a:srgbClr val="E4DEF6"/>
              </a:buClr>
              <a:buFont typeface="Wingdings"/>
              <a:buChar char="§"/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Approve or reject them </a:t>
            </a:r>
          </a:p>
          <a:p>
            <a:pPr>
              <a:buClr>
                <a:srgbClr val="E4DEF6"/>
              </a:buClr>
              <a:buFont typeface="Wingdings"/>
              <a:buChar char="§"/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 </a:t>
            </a:r>
            <a:r>
              <a:rPr lang="en-US" sz="4800" b="1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Database &amp; Models Built</a:t>
            </a:r>
            <a:endParaRPr lang="en-US" sz="4800" dirty="0">
              <a:solidFill>
                <a:srgbClr val="201449">
                  <a:alpha val="70000"/>
                </a:srgbClr>
              </a:solidFill>
              <a:latin typeface="Avenir Next LT Pro"/>
            </a:endParaRPr>
          </a:p>
          <a:p>
            <a:pPr lvl="1">
              <a:buClr>
                <a:srgbClr val="E4DEF6"/>
              </a:buClr>
              <a:buFont typeface="Wingdings"/>
              <a:buChar char="§"/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Claims, Documents, Users, User Roles</a:t>
            </a:r>
          </a:p>
          <a:p>
            <a:pPr>
              <a:buClr>
                <a:srgbClr val="E4DEF6"/>
              </a:buClr>
              <a:buFont typeface="Wingdings"/>
              <a:buChar char="§"/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 </a:t>
            </a:r>
            <a:r>
              <a:rPr lang="en-US" sz="4800" b="1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Basic UI &amp; Bootstrap Layout</a:t>
            </a:r>
            <a:endParaRPr lang="en-US" sz="4800" dirty="0">
              <a:solidFill>
                <a:srgbClr val="201449">
                  <a:alpha val="70000"/>
                </a:srgbClr>
              </a:solidFill>
              <a:latin typeface="Avenir Next LT Pro"/>
            </a:endParaRPr>
          </a:p>
          <a:p>
            <a:pPr lvl="1">
              <a:buClr>
                <a:srgbClr val="E4DEF6"/>
              </a:buClr>
              <a:buFont typeface="Wingdings"/>
              <a:buChar char="§"/>
            </a:pPr>
            <a:r>
              <a:rPr lang="en-US" sz="4800" dirty="0">
                <a:solidFill>
                  <a:srgbClr val="201449">
                    <a:alpha val="70000"/>
                  </a:srgbClr>
                </a:solidFill>
                <a:latin typeface="Avenir Next LT Pro"/>
              </a:rPr>
              <a:t>Tables, forms, and buttons functioning but minimal design</a:t>
            </a:r>
          </a:p>
          <a:p>
            <a:pPr marL="971550" lvl="1" indent="-285750">
              <a:buClr>
                <a:srgbClr val="E4DEF6"/>
              </a:buClr>
              <a:buFont typeface="Wingdings"/>
              <a:buChar char="§"/>
            </a:pPr>
            <a:endParaRPr lang="en-US" sz="800" dirty="0">
              <a:solidFill>
                <a:srgbClr val="201449">
                  <a:alpha val="70000"/>
                </a:srgbClr>
              </a:solidFill>
              <a:latin typeface="Aptos"/>
            </a:endParaRPr>
          </a:p>
          <a:p>
            <a:pPr marL="228600" indent="0">
              <a:buNone/>
            </a:pPr>
            <a:endParaRPr lang="en-US" sz="800" b="1" dirty="0">
              <a:solidFill>
                <a:srgbClr val="201449">
                  <a:alpha val="70000"/>
                </a:srgbClr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0C952-D249-09F1-6FC0-E2A3A64E5BAB}"/>
              </a:ext>
            </a:extLst>
          </p:cNvPr>
          <p:cNvSpPr txBox="1"/>
          <p:nvPr/>
        </p:nvSpPr>
        <p:spPr>
          <a:xfrm>
            <a:off x="-1439" y="1710547"/>
            <a:ext cx="52536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/>
              <a:t>Core Features of Part2</a:t>
            </a:r>
          </a:p>
        </p:txBody>
      </p:sp>
    </p:spTree>
    <p:extLst>
      <p:ext uri="{BB962C8B-B14F-4D97-AF65-F5344CB8AC3E}">
        <p14:creationId xmlns:p14="http://schemas.microsoft.com/office/powerpoint/2010/main" val="252851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21E5-A82C-5503-E439-DAAF9EEA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cs typeface="Angsana New"/>
              </a:rPr>
              <a:t>Part 3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84DB0-5E61-CFB3-8B20-93BC62F49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2502"/>
            <a:ext cx="10515600" cy="43644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8600" indent="0">
              <a:buNone/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Core Features of Part3</a:t>
            </a:r>
            <a:endParaRPr lang="en-US" dirty="0"/>
          </a:p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Added HR who is a super user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Login &amp; Sessions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Auto-calculation for lecturers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Secure role based access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PDF GENERATOR 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Removal of manual rate entry </a:t>
            </a:r>
          </a:p>
          <a:p>
            <a:pPr>
              <a:buClr>
                <a:srgbClr val="E4DEF6"/>
              </a:buClr>
            </a:pPr>
            <a:endParaRPr lang="en-US" dirty="0">
              <a:solidFill>
                <a:srgbClr val="201449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798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B36E71-93BD-4984-AC9C-CC9FB9CC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17462-4607-7B06-C88D-623D12BB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0"/>
            <a:ext cx="5257800" cy="5143499"/>
          </a:xfrm>
        </p:spPr>
        <p:txBody>
          <a:bodyPr anchor="ctr">
            <a:normAutofit/>
          </a:bodyPr>
          <a:lstStyle/>
          <a:p>
            <a:r>
              <a:rPr lang="en-US" sz="4400" b="1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  <a:latin typeface="Aptos"/>
              </a:rPr>
              <a:t>System Architecture Overview</a:t>
            </a:r>
            <a:endParaRPr lang="en-US" sz="440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F6823-1E9D-2111-AB60-2B6060BA8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24" y="857251"/>
            <a:ext cx="5019675" cy="51435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1">
                <a:solidFill>
                  <a:schemeClr val="tx2">
                    <a:alpha val="60000"/>
                  </a:schemeClr>
                </a:solidFill>
                <a:latin typeface="Aptos"/>
              </a:rPr>
              <a:t>User Roles &amp; Workflow:</a:t>
            </a:r>
            <a:endParaRPr lang="en-US" sz="1100">
              <a:solidFill>
                <a:schemeClr val="tx2">
                  <a:alpha val="60000"/>
                </a:schemeClr>
              </a:solidFill>
              <a:latin typeface="Grandview Display"/>
            </a:endParaRPr>
          </a:p>
          <a:p>
            <a:pPr>
              <a:lnSpc>
                <a:spcPct val="100000"/>
              </a:lnSpc>
              <a:buNone/>
            </a:pPr>
            <a:br>
              <a:rPr lang="en-US" sz="1100" b="1">
                <a:solidFill>
                  <a:schemeClr val="tx2">
                    <a:alpha val="60000"/>
                  </a:schemeClr>
                </a:solidFill>
                <a:latin typeface="Aptos"/>
              </a:rPr>
            </a:br>
            <a:r>
              <a:rPr lang="en-US" sz="1100" b="1">
                <a:solidFill>
                  <a:schemeClr val="tx2">
                    <a:alpha val="60000"/>
                  </a:schemeClr>
                </a:solidFill>
                <a:latin typeface="Grandview Display"/>
              </a:rPr>
              <a:t>Lecturer → Coordinator → Manager → HR → PDF Reports</a:t>
            </a:r>
            <a:endParaRPr lang="en-US" sz="1100">
              <a:solidFill>
                <a:schemeClr val="tx2">
                  <a:alpha val="60000"/>
                </a:schemeClr>
              </a:solidFill>
              <a:latin typeface="Grandview Display"/>
            </a:endParaRPr>
          </a:p>
          <a:p>
            <a:pPr>
              <a:lnSpc>
                <a:spcPct val="100000"/>
              </a:lnSpc>
              <a:buNone/>
            </a:pPr>
            <a:endParaRPr lang="en-US" sz="1100" b="1">
              <a:solidFill>
                <a:schemeClr val="tx2">
                  <a:alpha val="60000"/>
                </a:schemeClr>
              </a:solidFill>
              <a:latin typeface="Grandview Display"/>
            </a:endParaRPr>
          </a:p>
          <a:p>
            <a:pPr>
              <a:lnSpc>
                <a:spcPct val="100000"/>
              </a:lnSpc>
              <a:buNone/>
            </a:pPr>
            <a:r>
              <a:rPr lang="en-US" sz="1100" b="1">
                <a:solidFill>
                  <a:schemeClr val="tx2">
                    <a:alpha val="60000"/>
                  </a:schemeClr>
                </a:solidFill>
                <a:latin typeface="Aptos"/>
              </a:rPr>
              <a:t>Functional Flow:</a:t>
            </a:r>
            <a:endParaRPr lang="en-US" sz="1100">
              <a:solidFill>
                <a:schemeClr val="tx2">
                  <a:alpha val="60000"/>
                </a:schemeClr>
              </a:solidFill>
              <a:latin typeface="Aptos"/>
            </a:endParaRPr>
          </a:p>
          <a:p>
            <a:pPr marL="285750" indent="-285750">
              <a:lnSpc>
                <a:spcPct val="100000"/>
              </a:lnSpc>
              <a:buFont typeface="Wingdings"/>
              <a:buChar char="§"/>
            </a:pPr>
            <a:r>
              <a:rPr lang="en-US" sz="1100">
                <a:solidFill>
                  <a:schemeClr val="tx2">
                    <a:alpha val="60000"/>
                  </a:schemeClr>
                </a:solidFill>
                <a:latin typeface="Aptos"/>
              </a:rPr>
              <a:t>Lecturer submits claim + uploads evidence</a:t>
            </a:r>
          </a:p>
          <a:p>
            <a:pPr marL="285750" indent="-285750">
              <a:lnSpc>
                <a:spcPct val="100000"/>
              </a:lnSpc>
              <a:buFont typeface="Wingdings"/>
              <a:buChar char="§"/>
            </a:pPr>
            <a:r>
              <a:rPr lang="en-US" sz="1100">
                <a:solidFill>
                  <a:schemeClr val="tx2">
                    <a:alpha val="60000"/>
                  </a:schemeClr>
                </a:solidFill>
                <a:latin typeface="Aptos"/>
              </a:rPr>
              <a:t>Coordinator validates &amp; approves/rejects</a:t>
            </a:r>
          </a:p>
          <a:p>
            <a:pPr marL="285750" indent="-285750">
              <a:lnSpc>
                <a:spcPct val="100000"/>
              </a:lnSpc>
              <a:buFont typeface="Wingdings"/>
              <a:buChar char="§"/>
            </a:pPr>
            <a:r>
              <a:rPr lang="en-US" sz="1100">
                <a:solidFill>
                  <a:schemeClr val="tx2">
                    <a:alpha val="60000"/>
                  </a:schemeClr>
                </a:solidFill>
                <a:latin typeface="Aptos"/>
              </a:rPr>
              <a:t>Manager reviews coordinator-approved claims</a:t>
            </a:r>
          </a:p>
          <a:p>
            <a:pPr marL="285750" indent="-285750">
              <a:lnSpc>
                <a:spcPct val="100000"/>
              </a:lnSpc>
              <a:buFont typeface="Wingdings"/>
              <a:buChar char="§"/>
            </a:pPr>
            <a:r>
              <a:rPr lang="en-US" sz="1100">
                <a:solidFill>
                  <a:schemeClr val="tx2">
                    <a:alpha val="60000"/>
                  </a:schemeClr>
                </a:solidFill>
                <a:latin typeface="Aptos"/>
              </a:rPr>
              <a:t>HR completes administrative processing + manages user accounts</a:t>
            </a:r>
          </a:p>
          <a:p>
            <a:pPr marL="285750" indent="-285750">
              <a:lnSpc>
                <a:spcPct val="100000"/>
              </a:lnSpc>
              <a:buFont typeface="Wingdings"/>
              <a:buChar char="§"/>
            </a:pPr>
            <a:r>
              <a:rPr lang="en-US" sz="1100">
                <a:solidFill>
                  <a:schemeClr val="tx2">
                    <a:alpha val="60000"/>
                  </a:schemeClr>
                </a:solidFill>
                <a:latin typeface="Aptos"/>
              </a:rPr>
              <a:t>System generates PDF reports for auditing</a:t>
            </a:r>
          </a:p>
          <a:p>
            <a:pPr marL="285750" indent="-285750">
              <a:lnSpc>
                <a:spcPct val="100000"/>
              </a:lnSpc>
              <a:buClr>
                <a:srgbClr val="E4DEF6"/>
              </a:buClr>
              <a:buFont typeface="Wingdings"/>
              <a:buChar char="§"/>
            </a:pPr>
            <a:endParaRPr lang="en-US" sz="1100">
              <a:solidFill>
                <a:schemeClr val="tx2">
                  <a:alpha val="60000"/>
                </a:schemeClr>
              </a:solidFill>
              <a:latin typeface="Aptos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1100" b="1">
                <a:solidFill>
                  <a:schemeClr val="tx2">
                    <a:alpha val="60000"/>
                  </a:schemeClr>
                </a:solidFill>
                <a:latin typeface="Aptos"/>
              </a:rPr>
              <a:t>Technologies Used:</a:t>
            </a:r>
            <a:endParaRPr lang="en-US" sz="1100">
              <a:solidFill>
                <a:schemeClr val="tx2">
                  <a:alpha val="60000"/>
                </a:schemeClr>
              </a:solidFill>
              <a:latin typeface="Aptos"/>
            </a:endParaRPr>
          </a:p>
          <a:p>
            <a:pPr marL="285750" indent="-285750">
              <a:lnSpc>
                <a:spcPct val="100000"/>
              </a:lnSpc>
              <a:buClr>
                <a:srgbClr val="E4DEF6"/>
              </a:buClr>
              <a:buFont typeface="Wingdings"/>
              <a:buChar char="§"/>
            </a:pPr>
            <a:r>
              <a:rPr lang="en-US" sz="1100">
                <a:solidFill>
                  <a:schemeClr val="tx2">
                    <a:alpha val="60000"/>
                  </a:schemeClr>
                </a:solidFill>
                <a:latin typeface="Aptos"/>
              </a:rPr>
              <a:t>ASP.NET Core MVC</a:t>
            </a:r>
          </a:p>
          <a:p>
            <a:pPr marL="285750" indent="-285750">
              <a:lnSpc>
                <a:spcPct val="100000"/>
              </a:lnSpc>
              <a:buClr>
                <a:srgbClr val="E4DEF6"/>
              </a:buClr>
              <a:buFont typeface="Wingdings"/>
              <a:buChar char="§"/>
            </a:pPr>
            <a:r>
              <a:rPr lang="en-US" sz="1100">
                <a:solidFill>
                  <a:schemeClr val="tx2">
                    <a:alpha val="60000"/>
                  </a:schemeClr>
                </a:solidFill>
                <a:latin typeface="Aptos"/>
              </a:rPr>
              <a:t>SQL / EF Core / Azure Storage</a:t>
            </a:r>
          </a:p>
          <a:p>
            <a:pPr marL="285750" indent="-285750">
              <a:lnSpc>
                <a:spcPct val="100000"/>
              </a:lnSpc>
              <a:buClr>
                <a:srgbClr val="E4DEF6"/>
              </a:buClr>
              <a:buFont typeface="Wingdings"/>
              <a:buChar char="§"/>
            </a:pPr>
            <a:r>
              <a:rPr lang="en-US" sz="1100">
                <a:solidFill>
                  <a:schemeClr val="tx2">
                    <a:alpha val="60000"/>
                  </a:schemeClr>
                </a:solidFill>
                <a:latin typeface="Aptos"/>
              </a:rPr>
              <a:t>Bootstrap 5</a:t>
            </a:r>
          </a:p>
          <a:p>
            <a:pPr marL="285750" indent="-285750">
              <a:lnSpc>
                <a:spcPct val="100000"/>
              </a:lnSpc>
              <a:buClr>
                <a:srgbClr val="E4DEF6"/>
              </a:buClr>
              <a:buFont typeface="Wingdings"/>
              <a:buChar char="§"/>
            </a:pPr>
            <a:r>
              <a:rPr lang="en-US" sz="1100">
                <a:solidFill>
                  <a:schemeClr val="tx2">
                    <a:alpha val="60000"/>
                  </a:schemeClr>
                </a:solidFill>
                <a:latin typeface="Aptos"/>
              </a:rPr>
              <a:t>QuestPDF for reporting</a:t>
            </a:r>
          </a:p>
          <a:p>
            <a:pPr marL="228600" indent="0">
              <a:lnSpc>
                <a:spcPct val="100000"/>
              </a:lnSpc>
              <a:buNone/>
            </a:pPr>
            <a:endParaRPr lang="en-US" sz="1100">
              <a:solidFill>
                <a:schemeClr val="tx2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906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19F9CD66-32FC-448F-B4C5-67D17508A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B7786-5F54-BDA4-373E-5D3E6D743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69" y="-656853"/>
            <a:ext cx="4581525" cy="2076450"/>
          </a:xfrm>
        </p:spPr>
        <p:txBody>
          <a:bodyPr anchor="b">
            <a:normAutofit/>
          </a:bodyPr>
          <a:lstStyle/>
          <a:p>
            <a:r>
              <a:rPr lang="en-US" sz="3400" dirty="0">
                <a:gradFill flip="none">
                  <a:gsLst>
                    <a:gs pos="0">
                      <a:srgbClr val="7162FE">
                        <a:alpha val="70000"/>
                      </a:srgbClr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cs typeface="Angsana New"/>
              </a:rPr>
              <a:t>Home Dashboard.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700FFB-CA0B-8481-114B-BB155AA47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9157" y="1901566"/>
            <a:ext cx="7153686" cy="399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66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B36E71-93BD-4984-AC9C-CC9FB9CC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E1BF8-36C3-1F71-3208-F221546F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0"/>
            <a:ext cx="5257800" cy="5143499"/>
          </a:xfrm>
        </p:spPr>
        <p:txBody>
          <a:bodyPr anchor="ctr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  <a:cs typeface="Angsana New"/>
              </a:rPr>
              <a:t>Home Dashboard</a:t>
            </a:r>
            <a:endParaRPr lang="en-US" sz="440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6AB4E-0838-B624-D385-F176BC2B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24" y="857251"/>
            <a:ext cx="5019675" cy="51435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0">
              <a:buNone/>
            </a:pPr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Features of the Home dashboard </a:t>
            </a:r>
          </a:p>
          <a:p>
            <a:pPr>
              <a:buClr>
                <a:srgbClr val="E4DEF6"/>
              </a:buClr>
            </a:pPr>
            <a:r>
              <a:rPr lang="en-US" sz="1800">
                <a:solidFill>
                  <a:schemeClr val="tx2">
                    <a:alpha val="60000"/>
                  </a:schemeClr>
                </a:solidFill>
                <a:latin typeface="Aptos"/>
              </a:rPr>
              <a:t>Instant overview of user activity</a:t>
            </a:r>
          </a:p>
          <a:p>
            <a:pPr>
              <a:buClr>
                <a:srgbClr val="E4DEF6"/>
              </a:buClr>
            </a:pPr>
            <a:r>
              <a:rPr lang="en-US" sz="1800">
                <a:solidFill>
                  <a:schemeClr val="tx2">
                    <a:alpha val="60000"/>
                  </a:schemeClr>
                </a:solidFill>
                <a:latin typeface="Aptos"/>
              </a:rPr>
              <a:t>Login button </a:t>
            </a:r>
          </a:p>
          <a:p>
            <a:pPr>
              <a:buClr>
                <a:srgbClr val="E4DEF6"/>
              </a:buClr>
            </a:pPr>
            <a:r>
              <a:rPr lang="en-US" sz="1800">
                <a:solidFill>
                  <a:schemeClr val="tx2">
                    <a:alpha val="60000"/>
                  </a:schemeClr>
                </a:solidFill>
                <a:latin typeface="Aptos"/>
              </a:rPr>
              <a:t>Summary cards:</a:t>
            </a:r>
          </a:p>
          <a:p>
            <a:pPr lvl="1">
              <a:buClr>
                <a:srgbClr val="E4DEF6"/>
              </a:buClr>
            </a:pPr>
            <a:r>
              <a:rPr lang="en-US" sz="1800">
                <a:solidFill>
                  <a:schemeClr val="tx2">
                    <a:alpha val="60000"/>
                  </a:schemeClr>
                </a:solidFill>
                <a:latin typeface="Aptos"/>
              </a:rPr>
              <a:t>Total Claims</a:t>
            </a:r>
          </a:p>
          <a:p>
            <a:pPr lvl="1">
              <a:buClr>
                <a:srgbClr val="E4DEF6"/>
              </a:buClr>
            </a:pPr>
            <a:r>
              <a:rPr lang="en-US" sz="1800">
                <a:solidFill>
                  <a:schemeClr val="tx2">
                    <a:alpha val="60000"/>
                  </a:schemeClr>
                </a:solidFill>
                <a:latin typeface="Aptos"/>
              </a:rPr>
              <a:t>Pending Claims</a:t>
            </a:r>
          </a:p>
          <a:p>
            <a:pPr lvl="1">
              <a:buClr>
                <a:srgbClr val="E4DEF6"/>
              </a:buClr>
            </a:pPr>
            <a:r>
              <a:rPr lang="en-US" sz="1800">
                <a:solidFill>
                  <a:schemeClr val="tx2">
                    <a:alpha val="60000"/>
                  </a:schemeClr>
                </a:solidFill>
                <a:latin typeface="Aptos"/>
              </a:rPr>
              <a:t>Approved Claims</a:t>
            </a:r>
          </a:p>
          <a:p>
            <a:pPr lvl="1">
              <a:buClr>
                <a:srgbClr val="E4DEF6"/>
              </a:buClr>
            </a:pPr>
            <a:r>
              <a:rPr lang="en-US" sz="1800">
                <a:solidFill>
                  <a:schemeClr val="tx2">
                    <a:alpha val="60000"/>
                  </a:schemeClr>
                </a:solidFill>
                <a:latin typeface="Aptos"/>
              </a:rPr>
              <a:t>Rejected Claims</a:t>
            </a:r>
          </a:p>
          <a:p>
            <a:pPr>
              <a:buClr>
                <a:srgbClr val="E4DEF6"/>
              </a:buClr>
            </a:pPr>
            <a:r>
              <a:rPr lang="en-US" sz="1800">
                <a:solidFill>
                  <a:schemeClr val="tx2">
                    <a:alpha val="60000"/>
                  </a:schemeClr>
                </a:solidFill>
                <a:latin typeface="Aptos"/>
              </a:rPr>
              <a:t>Personalized greeting for logged-in user</a:t>
            </a:r>
          </a:p>
          <a:p>
            <a:pPr>
              <a:buClr>
                <a:srgbClr val="E4DEF6"/>
              </a:buClr>
            </a:pPr>
            <a:r>
              <a:rPr lang="en-US" sz="1800">
                <a:solidFill>
                  <a:schemeClr val="tx2">
                    <a:alpha val="60000"/>
                  </a:schemeClr>
                </a:solidFill>
                <a:latin typeface="Aptos"/>
              </a:rPr>
              <a:t>Clean Bootstrap card styling</a:t>
            </a:r>
          </a:p>
          <a:p>
            <a:pPr>
              <a:buClr>
                <a:srgbClr val="E4DEF6"/>
              </a:buClr>
            </a:pPr>
            <a:endParaRPr lang="en-US" sz="1800">
              <a:solidFill>
                <a:schemeClr val="tx2">
                  <a:alpha val="60000"/>
                </a:schemeClr>
              </a:solidFill>
              <a:latin typeface="Aptos"/>
            </a:endParaRPr>
          </a:p>
          <a:p>
            <a:pPr>
              <a:buClr>
                <a:srgbClr val="E4DEF6"/>
              </a:buClr>
            </a:pPr>
            <a:endParaRPr lang="en-US" sz="1800">
              <a:solidFill>
                <a:schemeClr val="tx2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094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8">
            <a:extLst>
              <a:ext uri="{FF2B5EF4-FFF2-40B4-BE49-F238E27FC236}">
                <a16:creationId xmlns:a16="http://schemas.microsoft.com/office/drawing/2014/main" id="{DD7EAFE6-2BB9-41FB-9CF4-588CFC70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3E06833-B59C-442F-9A6A-F8F55936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554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FA2016CF-2F24-4AE4-8A87-D9B6A3DE3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CCC40-1C26-9374-80C5-5E094C5E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720" y="386039"/>
            <a:ext cx="5078941" cy="15603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Login screen 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70ABD3-2581-9C36-08F9-72DE148C7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4476" y="2525020"/>
            <a:ext cx="7233151" cy="338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622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E45848-BEDA-4F24-9C4E-DA2120958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64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BB8117-A903-442C-9223-A4FEB85C3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63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59300B8-3117-43F8-9F8E-68DB9F002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43200" y="0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AFAE680-42C1-4104-B74F-B0A8F1FB2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3990" y="1194074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28A8BA9-B3FE-4C96-A0A1-72A0D2C85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439622" y="194269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AF534-FB73-844B-3F46-0390C69C8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1"/>
            <a:ext cx="10515600" cy="2076450"/>
          </a:xfrm>
        </p:spPr>
        <p:txBody>
          <a:bodyPr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  <a:cs typeface="Angsana New"/>
              </a:rPr>
              <a:t>Login Screen </a:t>
            </a:r>
            <a:endParaRPr lang="en-US" sz="4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B2DDE-D196-31D8-0F02-3948337C3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190875"/>
            <a:ext cx="8467725" cy="2986087"/>
          </a:xfrm>
        </p:spPr>
        <p:txBody>
          <a:bodyPr vert="horz" lIns="91440" tIns="45720" rIns="91440" bIns="45720" rtlCol="0">
            <a:normAutofit/>
          </a:bodyPr>
          <a:lstStyle/>
          <a:p>
            <a:pPr marL="228600" indent="0">
              <a:buNone/>
            </a:pPr>
            <a:r>
              <a:rPr lang="en-US" sz="1800">
                <a:solidFill>
                  <a:srgbClr val="FFFFFF"/>
                </a:solidFill>
              </a:rPr>
              <a:t>Features of the login page</a:t>
            </a:r>
          </a:p>
          <a:p>
            <a:pPr marL="228600" indent="0">
              <a:buNone/>
            </a:pPr>
            <a:endParaRPr lang="en-US" sz="1800">
              <a:solidFill>
                <a:srgbClr val="FFFFFF"/>
              </a:solidFill>
              <a:latin typeface="Avenir Next LT Pro"/>
            </a:endParaRPr>
          </a:p>
          <a:p>
            <a:r>
              <a:rPr lang="en-US" sz="1800">
                <a:solidFill>
                  <a:srgbClr val="FFFFFF"/>
                </a:solidFill>
                <a:latin typeface="Aptos"/>
              </a:rPr>
              <a:t>Clean, professional login layout</a:t>
            </a:r>
          </a:p>
          <a:p>
            <a:pPr>
              <a:buClr>
                <a:srgbClr val="E4DEF6"/>
              </a:buClr>
            </a:pPr>
            <a:r>
              <a:rPr lang="en-US" sz="1800" b="1">
                <a:solidFill>
                  <a:srgbClr val="FFFFFF"/>
                </a:solidFill>
                <a:latin typeface="Aptos"/>
              </a:rPr>
              <a:t>“Show/Hide Password”</a:t>
            </a:r>
            <a:r>
              <a:rPr lang="en-US" sz="1800">
                <a:solidFill>
                  <a:srgbClr val="FFFFFF"/>
                </a:solidFill>
                <a:latin typeface="Aptos"/>
              </a:rPr>
              <a:t> eye icon for accessibility</a:t>
            </a:r>
          </a:p>
          <a:p>
            <a:pPr>
              <a:buClr>
                <a:srgbClr val="E4DEF6"/>
              </a:buClr>
            </a:pPr>
            <a:r>
              <a:rPr lang="en-US" sz="1800">
                <a:solidFill>
                  <a:srgbClr val="FFFFFF"/>
                </a:solidFill>
                <a:latin typeface="Aptos"/>
              </a:rPr>
              <a:t>User role-based redirection after login</a:t>
            </a:r>
          </a:p>
          <a:p>
            <a:pPr>
              <a:buClr>
                <a:srgbClr val="E4DEF6"/>
              </a:buClr>
            </a:pPr>
            <a:r>
              <a:rPr lang="en-US" sz="1800">
                <a:solidFill>
                  <a:srgbClr val="FFFFFF"/>
                </a:solidFill>
                <a:latin typeface="Aptos"/>
              </a:rPr>
              <a:t>Validation messages for incorrect credentials</a:t>
            </a:r>
          </a:p>
          <a:p>
            <a:pPr>
              <a:buClr>
                <a:srgbClr val="E4DEF6"/>
              </a:buClr>
            </a:pPr>
            <a:r>
              <a:rPr lang="en-US" sz="1800">
                <a:solidFill>
                  <a:srgbClr val="FFFFFF"/>
                </a:solidFill>
                <a:latin typeface="Aptos"/>
              </a:rPr>
              <a:t>Secure handling of sessions</a:t>
            </a:r>
          </a:p>
          <a:p>
            <a:pPr>
              <a:buClr>
                <a:srgbClr val="E4DEF6"/>
              </a:buClr>
            </a:pPr>
            <a:endParaRPr lang="en-US" sz="180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50748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ame 30">
            <a:extLst>
              <a:ext uri="{FF2B5EF4-FFF2-40B4-BE49-F238E27FC236}">
                <a16:creationId xmlns:a16="http://schemas.microsoft.com/office/drawing/2014/main" id="{DD7EAFE6-2BB9-41FB-9CF4-588CFC70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ame 25">
            <a:extLst>
              <a:ext uri="{FF2B5EF4-FFF2-40B4-BE49-F238E27FC236}">
                <a16:creationId xmlns:a16="http://schemas.microsoft.com/office/drawing/2014/main" id="{19F9CD66-32FC-448F-B4C5-67D17508A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EBDA2-0CC1-6819-6CED-F35919014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57251"/>
            <a:ext cx="6116272" cy="20764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Sessions + Role-Based Access Control</a:t>
            </a:r>
          </a:p>
        </p:txBody>
      </p:sp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C79FF01-9BE9-4D03-3DC6-B6FD8AD787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8545383" y="1087481"/>
            <a:ext cx="2743200" cy="761237"/>
          </a:xfrm>
          <a:prstGeom prst="rect">
            <a:avLst/>
          </a:prstGeom>
        </p:spPr>
      </p:pic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7BC440F9-34A4-7258-AED6-21A847996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199" y="3190875"/>
            <a:ext cx="5890591" cy="2986087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2">
                    <a:alpha val="60000"/>
                  </a:schemeClr>
                </a:solidFill>
              </a:rPr>
              <a:t>Users can only access screens meant for their role.</a:t>
            </a:r>
          </a:p>
          <a:p>
            <a:pPr indent="-2286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2">
                    <a:alpha val="60000"/>
                  </a:schemeClr>
                </a:solidFill>
              </a:rPr>
              <a:t>HR → User management</a:t>
            </a:r>
            <a:br>
              <a:rPr lang="en-US" sz="1400">
                <a:solidFill>
                  <a:schemeClr val="tx2">
                    <a:alpha val="60000"/>
                  </a:schemeClr>
                </a:solidFill>
              </a:rPr>
            </a:br>
            <a:r>
              <a:rPr lang="en-US" sz="1400">
                <a:solidFill>
                  <a:schemeClr val="tx2">
                    <a:alpha val="60000"/>
                  </a:schemeClr>
                </a:solidFill>
              </a:rPr>
              <a:t>Lecturer → Submit + Track</a:t>
            </a:r>
            <a:br>
              <a:rPr lang="en-US" sz="1400">
                <a:solidFill>
                  <a:schemeClr val="tx2">
                    <a:alpha val="60000"/>
                  </a:schemeClr>
                </a:solidFill>
              </a:rPr>
            </a:br>
            <a:r>
              <a:rPr lang="en-US" sz="1400">
                <a:solidFill>
                  <a:schemeClr val="tx2">
                    <a:alpha val="60000"/>
                  </a:schemeClr>
                </a:solidFill>
              </a:rPr>
              <a:t>Coordinator → Verify</a:t>
            </a:r>
            <a:br>
              <a:rPr lang="en-US" sz="1400">
                <a:solidFill>
                  <a:schemeClr val="tx2">
                    <a:alpha val="60000"/>
                  </a:schemeClr>
                </a:solidFill>
              </a:rPr>
            </a:br>
            <a:r>
              <a:rPr lang="en-US" sz="1400">
                <a:solidFill>
                  <a:schemeClr val="tx2">
                    <a:alpha val="60000"/>
                  </a:schemeClr>
                </a:solidFill>
              </a:rPr>
              <a:t>Manager → Approve &amp; Pay</a:t>
            </a:r>
          </a:p>
          <a:p>
            <a:pPr indent="-2286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400">
              <a:solidFill>
                <a:schemeClr val="tx2">
                  <a:alpha val="60000"/>
                </a:schemeClr>
              </a:solidFill>
            </a:endParaRPr>
          </a:p>
          <a:p>
            <a:pPr marL="285750" indent="-2286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2">
                    <a:alpha val="60000"/>
                  </a:schemeClr>
                </a:solidFill>
              </a:rPr>
              <a:t>Explain Under Screenshot</a:t>
            </a:r>
          </a:p>
          <a:p>
            <a:pPr indent="-2286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2">
                    <a:alpha val="60000"/>
                  </a:schemeClr>
                </a:solidFill>
              </a:rPr>
              <a:t> Each controller action is restricted</a:t>
            </a:r>
          </a:p>
          <a:p>
            <a:pPr indent="-2286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2">
                    <a:alpha val="60000"/>
                  </a:schemeClr>
                </a:solidFill>
              </a:rPr>
              <a:t>If a user attempts to access another role’s page → access denied</a:t>
            </a:r>
          </a:p>
          <a:p>
            <a:pPr indent="-2286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400">
              <a:solidFill>
                <a:schemeClr val="tx2">
                  <a:alpha val="60000"/>
                </a:schemeClr>
              </a:solidFill>
            </a:endParaRPr>
          </a:p>
        </p:txBody>
      </p:sp>
      <p:pic>
        <p:nvPicPr>
          <p:cNvPr id="10" name="Picture 9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D981F88-3670-FC5C-0442-C1F89C689C3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8545383" y="2405825"/>
            <a:ext cx="2743200" cy="706374"/>
          </a:xfrm>
          <a:prstGeom prst="rect">
            <a:avLst/>
          </a:prstGeom>
        </p:spPr>
      </p:pic>
      <p:pic>
        <p:nvPicPr>
          <p:cNvPr id="6" name="Picture Placeholder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954745E-8E34-D6A6-2DFB-907E4CC8C61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alphaModFix amt="90000"/>
          </a:blip>
          <a:srcRect l="6978" r="32888" b="735"/>
          <a:stretch>
            <a:fillRect/>
          </a:stretch>
        </p:blipFill>
        <p:spPr>
          <a:xfrm>
            <a:off x="8545383" y="3506532"/>
            <a:ext cx="2743200" cy="1086786"/>
          </a:xfrm>
          <a:prstGeom prst="rect">
            <a:avLst/>
          </a:prstGeom>
        </p:spPr>
      </p:pic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2C9DAAD-CA41-825F-4F8F-FB1CAC21EE4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8545383" y="5042517"/>
            <a:ext cx="2743200" cy="59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79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9570-3584-9219-F812-27C5410A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cs typeface="Angsana New"/>
              </a:rPr>
              <a:t>Lecturer Page 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6F202-042F-2CA1-B3C8-9D210E898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Submit Claim Page </a:t>
            </a:r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FDA195-855C-BAC1-85F6-212B06905D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245557"/>
            <a:ext cx="5157787" cy="244174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F8AAC-6149-C73A-4489-85BD0144C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Track Claim page </a:t>
            </a:r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76DFA5-F198-C511-E274-70107CB52F3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229720"/>
            <a:ext cx="5183188" cy="247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50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25D0-F828-9DA1-5652-1F1E0690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cs typeface="Angsana New"/>
              </a:rPr>
              <a:t>Lecturer Page 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5C1A6-2243-4307-54D8-43E10A258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Submit Claim 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E63B6-6C7A-6FC6-20D3-30741C3106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8600" indent="0">
              <a:buNone/>
            </a:pPr>
            <a:endParaRPr lang="en-US" sz="1600" b="1" dirty="0">
              <a:solidFill>
                <a:srgbClr val="201449"/>
              </a:solidFill>
              <a:latin typeface="Aptos"/>
            </a:endParaRPr>
          </a:p>
          <a:p>
            <a:pPr marL="228600" indent="0">
              <a:buNone/>
            </a:pPr>
            <a:r>
              <a:rPr lang="en-US" sz="1600" b="1" dirty="0">
                <a:solidFill>
                  <a:srgbClr val="201449"/>
                </a:solidFill>
                <a:latin typeface="Aptos"/>
              </a:rPr>
              <a:t>What the Page Shows:</a:t>
            </a:r>
            <a:endParaRPr lang="en-US" dirty="0">
              <a:solidFill>
                <a:srgbClr val="201449">
                  <a:alpha val="70000"/>
                </a:srgbClr>
              </a:solidFill>
            </a:endParaRPr>
          </a:p>
          <a:p>
            <a:pPr>
              <a:buClr>
                <a:srgbClr val="E4DEF6"/>
              </a:buClr>
            </a:pPr>
            <a:r>
              <a:rPr lang="en-US" sz="1800" dirty="0">
                <a:latin typeface="Aptos"/>
              </a:rPr>
              <a:t>Input for Month, Hours Worked,  Notes</a:t>
            </a:r>
            <a:endParaRPr lang="en-US" sz="1800" dirty="0">
              <a:solidFill>
                <a:srgbClr val="201449">
                  <a:alpha val="70000"/>
                </a:srgbClr>
              </a:solidFill>
              <a:latin typeface="Aptos"/>
            </a:endParaRPr>
          </a:p>
          <a:p>
            <a:pPr>
              <a:buClr>
                <a:srgbClr val="E4DEF6"/>
              </a:buClr>
            </a:pPr>
            <a:r>
              <a:rPr lang="en-US" sz="1800" dirty="0">
                <a:latin typeface="Aptos"/>
              </a:rPr>
              <a:t>File upload for evidence (JPEG/PDF/PNG)</a:t>
            </a:r>
            <a:endParaRPr lang="en-US" sz="1800" dirty="0">
              <a:solidFill>
                <a:srgbClr val="201449">
                  <a:alpha val="70000"/>
                </a:srgbClr>
              </a:solidFill>
              <a:latin typeface="Aptos"/>
            </a:endParaRPr>
          </a:p>
          <a:p>
            <a:pPr>
              <a:buClr>
                <a:srgbClr val="E4DEF6"/>
              </a:buClr>
            </a:pPr>
            <a:r>
              <a:rPr lang="en-US" sz="1800" dirty="0">
                <a:latin typeface="Aptos"/>
              </a:rPr>
              <a:t>Auto-total calculation</a:t>
            </a:r>
            <a:endParaRPr lang="en-US" sz="1800" dirty="0">
              <a:solidFill>
                <a:srgbClr val="201449">
                  <a:alpha val="70000"/>
                </a:srgbClr>
              </a:solidFill>
              <a:latin typeface="Aptos"/>
            </a:endParaRPr>
          </a:p>
          <a:p>
            <a:pPr>
              <a:buClr>
                <a:srgbClr val="E4DEF6"/>
              </a:buClr>
            </a:pPr>
            <a:r>
              <a:rPr lang="en-US" sz="1800" dirty="0">
                <a:solidFill>
                  <a:srgbClr val="201449">
                    <a:alpha val="70000"/>
                  </a:srgbClr>
                </a:solidFill>
                <a:latin typeface="Aptos"/>
              </a:rPr>
              <a:t>Rate is added on the HR page </a:t>
            </a:r>
          </a:p>
          <a:p>
            <a:pPr>
              <a:buClr>
                <a:srgbClr val="E4DEF6"/>
              </a:buClr>
            </a:pPr>
            <a:r>
              <a:rPr lang="en-US" sz="1800" dirty="0">
                <a:solidFill>
                  <a:srgbClr val="201449">
                    <a:alpha val="70000"/>
                  </a:srgbClr>
                </a:solidFill>
                <a:latin typeface="Aptos"/>
              </a:rPr>
              <a:t>Name is auto added from HR page </a:t>
            </a:r>
          </a:p>
          <a:p>
            <a:pPr>
              <a:buClr>
                <a:srgbClr val="E4DEF6"/>
              </a:buClr>
            </a:pPr>
            <a:r>
              <a:rPr lang="en-US" sz="1800" dirty="0">
                <a:solidFill>
                  <a:srgbClr val="201449">
                    <a:alpha val="70000"/>
                  </a:srgbClr>
                </a:solidFill>
                <a:latin typeface="Aptos"/>
              </a:rPr>
              <a:t>Limits only to 180 hours per month </a:t>
            </a:r>
          </a:p>
          <a:p>
            <a:pPr>
              <a:buClr>
                <a:srgbClr val="E4DEF6"/>
              </a:buClr>
            </a:pPr>
            <a:endParaRPr lang="en-US" sz="1800" dirty="0">
              <a:solidFill>
                <a:srgbClr val="201449">
                  <a:alpha val="70000"/>
                </a:srgb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B0AD2B-CE3B-8064-F3A3-475E8565C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Track Claim Page 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2B557-D2D8-47D4-3AEE-078679DACC1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8600" indent="0">
              <a:buNone/>
            </a:pPr>
            <a:endParaRPr lang="en-US" sz="1600" b="1" dirty="0">
              <a:latin typeface="Aptos"/>
            </a:endParaRPr>
          </a:p>
          <a:p>
            <a:pPr marL="228600" indent="0">
              <a:buNone/>
            </a:pPr>
            <a:r>
              <a:rPr lang="en-US" sz="1600" b="1" dirty="0">
                <a:latin typeface="Aptos"/>
              </a:rPr>
              <a:t>What the Page Shows:</a:t>
            </a:r>
            <a:endParaRPr lang="en-US" sz="1600" dirty="0">
              <a:solidFill>
                <a:srgbClr val="201449">
                  <a:alpha val="70000"/>
                </a:srgbClr>
              </a:solidFill>
              <a:latin typeface="Aptos"/>
            </a:endParaRPr>
          </a:p>
          <a:p>
            <a:pPr>
              <a:buClr>
                <a:srgbClr val="E4DEF6"/>
              </a:buClr>
            </a:pPr>
            <a:r>
              <a:rPr lang="en-US" sz="1600" dirty="0">
                <a:latin typeface="Aptos"/>
              </a:rPr>
              <a:t>Interactive table with claims</a:t>
            </a:r>
            <a:endParaRPr lang="en-US" sz="1600" dirty="0">
              <a:solidFill>
                <a:srgbClr val="201449">
                  <a:alpha val="70000"/>
                </a:srgbClr>
              </a:solidFill>
              <a:latin typeface="Aptos"/>
            </a:endParaRPr>
          </a:p>
          <a:p>
            <a:pPr>
              <a:buClr>
                <a:srgbClr val="E4DEF6"/>
              </a:buClr>
            </a:pPr>
            <a:r>
              <a:rPr lang="en-US" sz="1600" dirty="0">
                <a:latin typeface="Aptos"/>
              </a:rPr>
              <a:t>Status badges (Pending, Approved, Rejected)</a:t>
            </a:r>
            <a:endParaRPr lang="en-US" sz="1600" dirty="0">
              <a:solidFill>
                <a:srgbClr val="201449">
                  <a:alpha val="70000"/>
                </a:srgbClr>
              </a:solidFill>
              <a:latin typeface="Aptos"/>
            </a:endParaRPr>
          </a:p>
          <a:p>
            <a:pPr>
              <a:buClr>
                <a:srgbClr val="E4DEF6"/>
              </a:buClr>
            </a:pPr>
            <a:r>
              <a:rPr lang="en-US" sz="1600" dirty="0">
                <a:latin typeface="Aptos"/>
              </a:rPr>
              <a:t>Downloadable evidence links</a:t>
            </a:r>
            <a:endParaRPr lang="en-US" sz="1600">
              <a:solidFill>
                <a:srgbClr val="201449">
                  <a:alpha val="70000"/>
                </a:srgbClr>
              </a:solidFill>
              <a:latin typeface="Aptos"/>
            </a:endParaRPr>
          </a:p>
          <a:p>
            <a:pPr>
              <a:buClr>
                <a:srgbClr val="E4DEF6"/>
              </a:buClr>
            </a:pPr>
            <a:r>
              <a:rPr lang="en-US" sz="1600" dirty="0">
                <a:latin typeface="Aptos"/>
              </a:rPr>
              <a:t>Delete option for pending claims</a:t>
            </a:r>
            <a:endParaRPr lang="en-US" sz="1600">
              <a:solidFill>
                <a:srgbClr val="201449">
                  <a:alpha val="70000"/>
                </a:srgbClr>
              </a:solidFill>
              <a:latin typeface="Aptos"/>
            </a:endParaRPr>
          </a:p>
          <a:p>
            <a:pPr>
              <a:buClr>
                <a:srgbClr val="E4DEF6"/>
              </a:buClr>
            </a:pPr>
            <a:r>
              <a:rPr lang="en-US" sz="1600" dirty="0">
                <a:latin typeface="Aptos"/>
              </a:rPr>
              <a:t>Accurate totals per month</a:t>
            </a:r>
            <a:endParaRPr lang="en-US" sz="1600" dirty="0">
              <a:solidFill>
                <a:srgbClr val="201449">
                  <a:alpha val="70000"/>
                </a:srgbClr>
              </a:solidFill>
              <a:latin typeface="Aptos"/>
            </a:endParaRPr>
          </a:p>
          <a:p>
            <a:pPr>
              <a:buClr>
                <a:srgbClr val="E4DEF6"/>
              </a:buClr>
            </a:pPr>
            <a:endParaRPr lang="en-US" sz="3600" dirty="0">
              <a:solidFill>
                <a:srgbClr val="201449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253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ame 14">
            <a:extLst>
              <a:ext uri="{FF2B5EF4-FFF2-40B4-BE49-F238E27FC236}">
                <a16:creationId xmlns:a16="http://schemas.microsoft.com/office/drawing/2014/main" id="{DD7EAFE6-2BB9-41FB-9CF4-588CFC70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3E06833-B59C-442F-9A6A-F8F55936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554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ame 18">
            <a:extLst>
              <a:ext uri="{FF2B5EF4-FFF2-40B4-BE49-F238E27FC236}">
                <a16:creationId xmlns:a16="http://schemas.microsoft.com/office/drawing/2014/main" id="{FA2016CF-2F24-4AE4-8A87-D9B6A3DE3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763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2D3AC-5DC5-4CA4-5D22-C2A19D48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356" y="4103"/>
            <a:ext cx="648788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 Lecturer  Data Pull</a:t>
            </a:r>
            <a:endParaRPr lang="en-US" sz="540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C8F81-7E15-499B-A3A5-94A4840C6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1421" y="2394713"/>
            <a:ext cx="6487886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kern="1200">
                <a:solidFill>
                  <a:schemeClr val="tx2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LecturerController → SubmitClaim()</a:t>
            </a:r>
          </a:p>
        </p:txBody>
      </p:sp>
      <p:pic>
        <p:nvPicPr>
          <p:cNvPr id="10" name="Picture 9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BCDDE2B7-126A-7F71-4E0B-7CABA1D931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t="6307" r="-2" b="-2"/>
          <a:stretch>
            <a:fillRect/>
          </a:stretch>
        </p:blipFill>
        <p:spPr>
          <a:xfrm>
            <a:off x="7665959" y="488577"/>
            <a:ext cx="4036466" cy="2940423"/>
          </a:xfrm>
          <a:prstGeom prst="rect">
            <a:avLst/>
          </a:prstGeom>
        </p:spPr>
      </p:pic>
      <p:pic>
        <p:nvPicPr>
          <p:cNvPr id="8" name="Picture Placeholder 7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5094E4F3-9DA8-2292-B94C-34C0526B8C3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alphaModFix amt="80000"/>
          </a:blip>
          <a:srcRect l="1807" r="24151" b="-4"/>
          <a:stretch>
            <a:fillRect/>
          </a:stretch>
        </p:blipFill>
        <p:spPr>
          <a:xfrm>
            <a:off x="7665959" y="3425452"/>
            <a:ext cx="4036466" cy="29439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7F94B7-5B60-6E80-6140-D50FD641DF2D}"/>
              </a:ext>
            </a:extLst>
          </p:cNvPr>
          <p:cNvSpPr txBox="1"/>
          <p:nvPr/>
        </p:nvSpPr>
        <p:spPr>
          <a:xfrm>
            <a:off x="1028700" y="5686424"/>
            <a:ext cx="7000874" cy="5524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4EDB9-0E47-54C9-406C-B9FCC7DCFD40}"/>
              </a:ext>
            </a:extLst>
          </p:cNvPr>
          <p:cNvSpPr txBox="1"/>
          <p:nvPr/>
        </p:nvSpPr>
        <p:spPr>
          <a:xfrm>
            <a:off x="535750" y="3454383"/>
            <a:ext cx="4943474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 err="1">
                <a:solidFill>
                  <a:srgbClr val="0F4761"/>
                </a:solidFill>
                <a:latin typeface="Aptos"/>
              </a:rPr>
              <a:t>Explaintation</a:t>
            </a:r>
            <a:r>
              <a:rPr lang="en-US" sz="1400" b="1" dirty="0">
                <a:solidFill>
                  <a:srgbClr val="0F4761"/>
                </a:solidFill>
                <a:latin typeface="Aptos"/>
              </a:rPr>
              <a:t> of  Screenshot</a:t>
            </a:r>
            <a:endParaRPr lang="en-US" sz="1400">
              <a:solidFill>
                <a:srgbClr val="0F4761"/>
              </a:solidFill>
              <a:latin typeface="Aptos"/>
            </a:endParaRPr>
          </a:p>
          <a:p>
            <a:pPr marL="285750" indent="-285750">
              <a:spcAft>
                <a:spcPts val="600"/>
              </a:spcAft>
              <a:buFont typeface="Symbol"/>
              <a:buChar char="•"/>
            </a:pPr>
            <a:r>
              <a:rPr lang="en-US" sz="1200" dirty="0">
                <a:latin typeface="Aptos"/>
              </a:rPr>
              <a:t>System fetches Lecturer </a:t>
            </a:r>
            <a:r>
              <a:rPr lang="en-US" sz="1200" dirty="0" err="1">
                <a:latin typeface="Aptos"/>
              </a:rPr>
              <a:t>HourlyRate</a:t>
            </a:r>
            <a:r>
              <a:rPr lang="en-US" sz="1200" dirty="0">
                <a:latin typeface="Aptos"/>
              </a:rPr>
              <a:t>, Name, ID from DB</a:t>
            </a:r>
            <a:endParaRPr lang="en-US" sz="1200">
              <a:latin typeface="Aptos"/>
            </a:endParaRPr>
          </a:p>
          <a:p>
            <a:pPr marL="285750" indent="-285750">
              <a:spcAft>
                <a:spcPts val="600"/>
              </a:spcAft>
              <a:buFont typeface="Symbol"/>
              <a:buChar char="•"/>
            </a:pPr>
            <a:r>
              <a:rPr lang="en-US" sz="1200" dirty="0">
                <a:latin typeface="Aptos"/>
              </a:rPr>
              <a:t>Only </a:t>
            </a:r>
            <a:r>
              <a:rPr lang="en-US" sz="1200" dirty="0" err="1">
                <a:latin typeface="Aptos"/>
              </a:rPr>
              <a:t>HoursWorked</a:t>
            </a:r>
            <a:r>
              <a:rPr lang="en-US" sz="1200" dirty="0">
                <a:latin typeface="Aptos"/>
              </a:rPr>
              <a:t> + Notes are entered manually</a:t>
            </a:r>
            <a:endParaRPr lang="en-US" sz="1200">
              <a:latin typeface="Aptos"/>
            </a:endParaRPr>
          </a:p>
          <a:p>
            <a:pPr marL="285750" indent="-285750">
              <a:spcAft>
                <a:spcPts val="600"/>
              </a:spcAft>
              <a:buFont typeface="Symbol"/>
              <a:buChar char="•"/>
            </a:pPr>
            <a:endParaRPr lang="en-US" sz="1200">
              <a:latin typeface="Aptos"/>
            </a:endParaRPr>
          </a:p>
          <a:p>
            <a:pPr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68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B5787-B5BD-3D21-648E-E39070B27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cs typeface="Angsana New"/>
              </a:rPr>
              <a:t>Coordinator Page 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660DA-2FFA-2DD7-2AD0-38E6FF2BE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Features :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Holds the pending claims from the Lecturer</a:t>
            </a:r>
          </a:p>
          <a:p>
            <a:pPr marL="285750" indent="-285750">
              <a:buClr>
                <a:srgbClr val="E4DEF6"/>
              </a:buClr>
              <a:buFont typeface="Arial" panose="05000000000000000000" pitchFamily="2" charset="2"/>
              <a:buChar char="•"/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Approve or Reject</a:t>
            </a:r>
          </a:p>
          <a:p>
            <a:pPr marL="285750" indent="-285750">
              <a:buClr>
                <a:srgbClr val="E4DEF6"/>
              </a:buClr>
              <a:buFont typeface="Arial" panose="05000000000000000000" pitchFamily="2" charset="2"/>
              <a:buChar char="•"/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Notes &amp; document preview</a:t>
            </a:r>
          </a:p>
          <a:p>
            <a:pPr marL="285750" indent="-285750">
              <a:buClr>
                <a:srgbClr val="E4DEF6"/>
              </a:buClr>
              <a:buFont typeface="Arial" panose="05000000000000000000" pitchFamily="2" charset="2"/>
              <a:buChar char="•"/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Clearly labelled tables</a:t>
            </a:r>
          </a:p>
          <a:p>
            <a:pPr marL="285750" indent="-285750">
              <a:buClr>
                <a:srgbClr val="E4DEF6"/>
              </a:buClr>
              <a:buFont typeface="Arial" panose="05000000000000000000" pitchFamily="2" charset="2"/>
              <a:buChar char="•"/>
            </a:pPr>
            <a:endParaRPr lang="en-US" dirty="0">
              <a:solidFill>
                <a:srgbClr val="201449">
                  <a:alpha val="70000"/>
                </a:srgbClr>
              </a:solidFill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A5796CF-F8B5-6372-60F5-DD18F44FF75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739" t="-536" r="5911" b="-446"/>
          <a:stretch>
            <a:fillRect/>
          </a:stretch>
        </p:blipFill>
        <p:spPr>
          <a:xfrm>
            <a:off x="4641712" y="1880780"/>
            <a:ext cx="6359116" cy="270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72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455FE-A73D-7379-92FB-FC4C6A51C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cs typeface="Angsana New"/>
              </a:rPr>
              <a:t>Manager: </a:t>
            </a:r>
            <a:br>
              <a:rPr lang="en-US" sz="2400" dirty="0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latin typeface="Sabon Next LT"/>
                <a:cs typeface="Angsana New"/>
              </a:rPr>
            </a:br>
            <a:r>
              <a:rPr lang="en-US" sz="2400" b="1" dirty="0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latin typeface="Aptos"/>
                <a:cs typeface="Angsana New"/>
              </a:rPr>
              <a:t>Coordinator-Approved Claims </a:t>
            </a: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3BC8B-E615-6B3A-5EB0-058030F36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Features 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Hold the approved claims from the coordinator </a:t>
            </a:r>
          </a:p>
          <a:p>
            <a:pPr marL="285750" indent="-285750">
              <a:buClr>
                <a:srgbClr val="E4DEF6"/>
              </a:buClr>
              <a:buFont typeface="Arial" panose="05000000000000000000" pitchFamily="2" charset="2"/>
              <a:buChar char="•"/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Approve &amp; Pay</a:t>
            </a:r>
          </a:p>
          <a:p>
            <a:pPr marL="285750" indent="-285750">
              <a:buClr>
                <a:srgbClr val="E4DEF6"/>
              </a:buClr>
              <a:buFont typeface="Arial" panose="05000000000000000000" pitchFamily="2" charset="2"/>
              <a:buChar char="•"/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Reject with a click</a:t>
            </a:r>
          </a:p>
          <a:p>
            <a:pPr marL="285750" indent="-285750">
              <a:buClr>
                <a:srgbClr val="E4DEF6"/>
              </a:buClr>
              <a:buFont typeface="Arial" panose="05000000000000000000" pitchFamily="2" charset="2"/>
              <a:buChar char="•"/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Access to documents and notes</a:t>
            </a:r>
          </a:p>
          <a:p>
            <a:pPr marL="285750" indent="-285750">
              <a:buClr>
                <a:srgbClr val="E4DEF6"/>
              </a:buClr>
              <a:buFont typeface="Arial" panose="05000000000000000000" pitchFamily="2" charset="2"/>
              <a:buChar char="•"/>
            </a:pPr>
            <a:endParaRPr lang="en-US" dirty="0">
              <a:solidFill>
                <a:srgbClr val="201449">
                  <a:alpha val="70000"/>
                </a:srgbClr>
              </a:solidFill>
            </a:endParaRPr>
          </a:p>
        </p:txBody>
      </p:sp>
      <p:pic>
        <p:nvPicPr>
          <p:cNvPr id="11" name="Picture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CF753B-D25F-98D6-D980-435A0269679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688" t="2050" r="2796" b="-2253"/>
          <a:stretch>
            <a:fillRect/>
          </a:stretch>
        </p:blipFill>
        <p:spPr>
          <a:xfrm>
            <a:off x="4769530" y="1600201"/>
            <a:ext cx="6263182" cy="312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015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A6C35-BB05-7CB2-6169-42BBD9AD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cs typeface="Angsana New"/>
              </a:rPr>
              <a:t>HR Page 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2345B-773F-CF58-5938-5A299A09B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HR Index Page 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1A107A-903B-0C9F-4E2D-319954EE51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3250454"/>
            <a:ext cx="5157787" cy="2431952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6FD3A-666A-1FEE-5B5B-AD3EE7AB7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HR Create New User Page </a:t>
            </a:r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BDF823-58F2-F1B0-715A-25237E27073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3223330"/>
            <a:ext cx="5183188" cy="24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51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90C8-EA1A-C208-DFC3-C764779EC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cs typeface="Angsana New"/>
              </a:rPr>
              <a:t>HR Page 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94593-0048-014B-FA11-D3F2A8EFE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HR index page 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7AD2F3-298D-98FA-7530-C7D36B6EC7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Add users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Edit users 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Delete accounts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Access  PDF reports</a:t>
            </a:r>
          </a:p>
          <a:p>
            <a:pPr>
              <a:buClr>
                <a:srgbClr val="E4DEF6"/>
              </a:buClr>
            </a:pPr>
            <a:endParaRPr lang="en-US" dirty="0">
              <a:solidFill>
                <a:srgbClr val="201449">
                  <a:alpha val="70000"/>
                </a:srgb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5D7EF-5770-288B-12F1-E689B8514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HR Create New User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901E56-9129-C266-F551-B447ED3091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Create username 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Add password 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Add the users rate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The users email </a:t>
            </a:r>
          </a:p>
          <a:p>
            <a:pPr>
              <a:buClr>
                <a:srgbClr val="E4DEF6"/>
              </a:buClr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Adding the role </a:t>
            </a:r>
          </a:p>
          <a:p>
            <a:pPr>
              <a:buClr>
                <a:srgbClr val="E4DEF6"/>
              </a:buClr>
            </a:pPr>
            <a:endParaRPr lang="en-US" dirty="0">
              <a:solidFill>
                <a:srgbClr val="201449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387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DBB67-1377-88CF-7184-01DEDFB1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85" y="631615"/>
            <a:ext cx="10791021" cy="570141"/>
          </a:xfrm>
        </p:spPr>
        <p:txBody>
          <a:bodyPr>
            <a:normAutofit fontScale="90000"/>
          </a:bodyPr>
          <a:lstStyle/>
          <a:p>
            <a:r>
              <a:rPr lang="en-US" sz="3600">
                <a:solidFill>
                  <a:srgbClr val="7162FE"/>
                </a:solidFill>
                <a:latin typeface="Sabon Next LT"/>
                <a:cs typeface="Sabon Next LT"/>
              </a:rPr>
              <a:t>HR Creates &amp; Manages All Users </a:t>
            </a:r>
            <a:br>
              <a:rPr lang="en-US" sz="2000">
                <a:solidFill>
                  <a:srgbClr val="7162FE"/>
                </a:solidFill>
                <a:latin typeface="Sabon Next LT"/>
                <a:cs typeface="Sabon Next LT"/>
              </a:rPr>
            </a:br>
            <a:endParaRPr lang="en-US" sz="2000">
              <a:latin typeface="Sabon Next LT"/>
              <a:cs typeface="Sabon Next 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C2A1C-4DFE-9BA6-95AD-0BAD2E5B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559" y="1305499"/>
            <a:ext cx="5157787" cy="82391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>
                <a:solidFill>
                  <a:srgbClr val="201449"/>
                </a:solidFill>
                <a:latin typeface="Avenir Next LT Pro"/>
              </a:rPr>
              <a:t> Screenshot your </a:t>
            </a:r>
            <a:r>
              <a:rPr lang="en-US" dirty="0" err="1">
                <a:solidFill>
                  <a:srgbClr val="201449"/>
                </a:solidFill>
                <a:latin typeface="Avenir Next LT Pro"/>
              </a:rPr>
              <a:t>HRController.cs</a:t>
            </a:r>
            <a:r>
              <a:rPr lang="en-US" dirty="0">
                <a:solidFill>
                  <a:srgbClr val="201449"/>
                </a:solidFill>
                <a:latin typeface="Avenir Next LT Pro"/>
              </a:rPr>
              <a:t> → Create() method</a:t>
            </a:r>
            <a:endParaRPr lang="en-US" dirty="0"/>
          </a:p>
        </p:txBody>
      </p:sp>
      <p:pic>
        <p:nvPicPr>
          <p:cNvPr id="7" name="Content Placeholder 6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2EABA002-07AF-ABD5-2B28-BD2EEDB096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6894" y="2238260"/>
            <a:ext cx="4987163" cy="3005788"/>
          </a:xfrm>
          <a:prstGeom prst="rect">
            <a:avLst/>
          </a:prstGeom>
        </p:spPr>
      </p:pic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620C0EF-BA1C-2418-1282-E46FFB86BDE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79423" y="2238259"/>
            <a:ext cx="4886114" cy="304251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26D8D7-D825-375D-A463-AA0DFBDE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4007" y="1305499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 Screenshot the EF Model </a:t>
            </a:r>
            <a:r>
              <a:rPr lang="en-US" dirty="0" err="1"/>
              <a:t>AppUser.cs</a:t>
            </a:r>
            <a:endParaRPr lang="en-US" dirty="0" err="1">
              <a:solidFill>
                <a:srgbClr val="201449">
                  <a:alpha val="70000"/>
                </a:srgb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10732C-ED45-88B5-6A52-E9D80695781B}"/>
              </a:ext>
            </a:extLst>
          </p:cNvPr>
          <p:cNvSpPr txBox="1"/>
          <p:nvPr/>
        </p:nvSpPr>
        <p:spPr>
          <a:xfrm>
            <a:off x="771524" y="5372100"/>
            <a:ext cx="10363199" cy="800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5BBC5C-2880-4DA4-2B1A-A3D51B96D46D}"/>
              </a:ext>
            </a:extLst>
          </p:cNvPr>
          <p:cNvSpPr txBox="1"/>
          <p:nvPr/>
        </p:nvSpPr>
        <p:spPr>
          <a:xfrm>
            <a:off x="771181" y="5274325"/>
            <a:ext cx="6096000" cy="1259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18"/>
              </a:lnSpc>
            </a:pPr>
            <a:r>
              <a:rPr lang="en-US" sz="1400" b="1" err="1">
                <a:solidFill>
                  <a:srgbClr val="0F4761"/>
                </a:solidFill>
                <a:latin typeface="Aptos"/>
                <a:ea typeface="Segoe UI"/>
                <a:cs typeface="Segoe UI"/>
              </a:rPr>
              <a:t>Explaintation</a:t>
            </a:r>
            <a:r>
              <a:rPr lang="en-US" sz="1400" b="1" dirty="0">
                <a:solidFill>
                  <a:srgbClr val="0F4761"/>
                </a:solidFill>
                <a:latin typeface="Aptos"/>
                <a:ea typeface="Segoe UI"/>
                <a:cs typeface="Segoe UI"/>
              </a:rPr>
              <a:t> of Screenshot</a:t>
            </a:r>
            <a:r>
              <a:rPr lang="en-US" sz="1400" dirty="0">
                <a:solidFill>
                  <a:srgbClr val="0F4761"/>
                </a:solidFill>
                <a:latin typeface="Aptos"/>
                <a:ea typeface="Segoe UI"/>
                <a:cs typeface="Segoe UI"/>
              </a:rPr>
              <a:t> </a:t>
            </a:r>
            <a:endParaRPr lang="en-US"/>
          </a:p>
          <a:p>
            <a:pPr marL="228600" indent="-228600">
              <a:lnSpc>
                <a:spcPts val="1569"/>
              </a:lnSpc>
              <a:buFont typeface="Symbol"/>
              <a:buChar char="•"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Shows HR creating users with name, username, role, hourly rate </a:t>
            </a:r>
            <a:endParaRPr lang="en-US"/>
          </a:p>
          <a:p>
            <a:pPr marL="228600" indent="-228600">
              <a:lnSpc>
                <a:spcPts val="1569"/>
              </a:lnSpc>
              <a:buFont typeface="Symbol"/>
              <a:buChar char="•"/>
            </a:pPr>
            <a:r>
              <a:rPr lang="en-US" sz="1200" dirty="0">
                <a:solidFill>
                  <a:srgbClr val="000000"/>
                </a:solidFill>
                <a:latin typeface="Aptos"/>
              </a:rPr>
              <a:t>Password hashing or default password assignment </a:t>
            </a:r>
            <a:endParaRPr lang="en-US"/>
          </a:p>
          <a:p>
            <a:pPr marL="228600" indent="-228600">
              <a:lnSpc>
                <a:spcPts val="1569"/>
              </a:lnSpc>
              <a:buFont typeface="Symbol"/>
              <a:buChar char="•"/>
            </a:pPr>
            <a:r>
              <a:rPr lang="en-US" sz="1200" dirty="0">
                <a:solidFill>
                  <a:srgbClr val="000000"/>
                </a:solidFill>
                <a:latin typeface="Aptos"/>
                <a:cs typeface="Segoe UI"/>
              </a:rPr>
              <a:t>Role assignment logic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55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29D8-6376-AA35-807B-46E26F02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007"/>
            <a:ext cx="9530442" cy="23738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Pdf  generated by HR </a:t>
            </a:r>
          </a:p>
        </p:txBody>
      </p:sp>
      <p:pic>
        <p:nvPicPr>
          <p:cNvPr id="7" name="Picture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0E39CD-603E-91E8-C9C2-F364C413D08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b="17332"/>
          <a:stretch>
            <a:fillRect/>
          </a:stretch>
        </p:blipFill>
        <p:spPr>
          <a:xfrm>
            <a:off x="20" y="3179205"/>
            <a:ext cx="12191980" cy="367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73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5AFE-7A8B-FB63-325C-7F7BDCD9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8835528" cy="588503"/>
          </a:xfrm>
        </p:spPr>
        <p:txBody>
          <a:bodyPr>
            <a:normAutofit fontScale="90000"/>
          </a:bodyPr>
          <a:lstStyle/>
          <a:p>
            <a:r>
              <a:rPr lang="en-US">
                <a:cs typeface="Sabon Next LT"/>
              </a:rPr>
              <a:t> HR Generates Reports (PDF)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3AD5E-EAFB-48EE-BFEB-CBAEC74E4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5476" y="1174226"/>
            <a:ext cx="4864004" cy="741286"/>
          </a:xfrm>
        </p:spPr>
        <p:txBody>
          <a:bodyPr>
            <a:normAutofit/>
          </a:bodyPr>
          <a:lstStyle/>
          <a:p>
            <a:r>
              <a:rPr lang="en-US"/>
              <a:t> The </a:t>
            </a:r>
            <a:r>
              <a:rPr lang="en-US" err="1"/>
              <a:t>GeneratePdf</a:t>
            </a:r>
            <a:r>
              <a:rPr lang="en-US"/>
              <a:t>() method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55FF94-A42E-E200-0A3B-5DAF65ECC899}"/>
              </a:ext>
            </a:extLst>
          </p:cNvPr>
          <p:cNvSpPr txBox="1"/>
          <p:nvPr/>
        </p:nvSpPr>
        <p:spPr>
          <a:xfrm>
            <a:off x="1068865" y="5425921"/>
            <a:ext cx="7195849" cy="8615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7F29F-4BF7-0645-C4FB-494ACA673C2F}"/>
              </a:ext>
            </a:extLst>
          </p:cNvPr>
          <p:cNvSpPr txBox="1"/>
          <p:nvPr/>
        </p:nvSpPr>
        <p:spPr>
          <a:xfrm>
            <a:off x="837855" y="5353050"/>
            <a:ext cx="5666687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Explaintation</a:t>
            </a:r>
            <a:r>
              <a:rPr lang="en-US" dirty="0"/>
              <a:t> of  Screenshot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System loads all users or claims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Renders them into a structured PDF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HR can download with one click</a:t>
            </a:r>
          </a:p>
          <a:p>
            <a:endParaRPr lang="en-US" dirty="0"/>
          </a:p>
        </p:txBody>
      </p:sp>
      <p:pic>
        <p:nvPicPr>
          <p:cNvPr id="16" name="Content Placeholder 1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2661289-6598-B1B6-E1B8-B868DF5486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07035" y="1865807"/>
            <a:ext cx="5157787" cy="312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84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ame 13">
            <a:extLst>
              <a:ext uri="{FF2B5EF4-FFF2-40B4-BE49-F238E27FC236}">
                <a16:creationId xmlns:a16="http://schemas.microsoft.com/office/drawing/2014/main" id="{DD7EAFE6-2BB9-41FB-9CF4-588CFC70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3E06833-B59C-442F-9A6A-F8F55936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554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FA2016CF-2F24-4AE4-8A87-D9B6A3DE3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B27F6-BD86-BE2F-5771-7B3AA8B84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3"/>
            <a:ext cx="643654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The </a:t>
            </a:r>
            <a:r>
              <a:rPr lang="en-US" sz="4200" dirty="0" err="1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QuestPDF</a:t>
            </a:r>
            <a:r>
              <a:rPr lang="en-US" sz="42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 document layout class</a:t>
            </a:r>
          </a:p>
          <a:p>
            <a:endParaRPr lang="en-US" sz="420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pic>
        <p:nvPicPr>
          <p:cNvPr id="8" name="Content Placeholder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FECDB96-1727-7AA7-F6BC-851B36CC33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alphaModFix amt="90000"/>
          </a:blip>
          <a:srcRect t="1871" r="-2" b="-2"/>
          <a:stretch>
            <a:fillRect/>
          </a:stretch>
        </p:blipFill>
        <p:spPr>
          <a:xfrm>
            <a:off x="7665959" y="488578"/>
            <a:ext cx="4036466" cy="1960677"/>
          </a:xfrm>
          <a:prstGeom prst="rect">
            <a:avLst/>
          </a:prstGeom>
        </p:spPr>
      </p:pic>
      <p:pic>
        <p:nvPicPr>
          <p:cNvPr id="7" name="Content Placeholder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335C5CF-451A-2AC5-6A98-542B3EC5656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alphaModFix amt="90000"/>
          </a:blip>
          <a:srcRect r="-2" b="3812"/>
          <a:stretch>
            <a:fillRect/>
          </a:stretch>
        </p:blipFill>
        <p:spPr>
          <a:xfrm>
            <a:off x="7665959" y="2446888"/>
            <a:ext cx="4036466" cy="1960677"/>
          </a:xfrm>
          <a:prstGeom prst="rect">
            <a:avLst/>
          </a:prstGeom>
        </p:spPr>
      </p:pic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D4500C5-35DE-D9D8-6DDC-38393B75EF6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0"/>
          </a:blip>
          <a:srcRect r="-2" b="8780"/>
          <a:stretch>
            <a:fillRect/>
          </a:stretch>
        </p:blipFill>
        <p:spPr>
          <a:xfrm>
            <a:off x="7665959" y="4405199"/>
            <a:ext cx="4036466" cy="19606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48C38A-628A-5369-86D3-07A640E0F0E2}"/>
              </a:ext>
            </a:extLst>
          </p:cNvPr>
          <p:cNvSpPr txBox="1"/>
          <p:nvPr/>
        </p:nvSpPr>
        <p:spPr>
          <a:xfrm>
            <a:off x="1397827" y="3879220"/>
            <a:ext cx="4393453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/>
              <a:t>Explaintation</a:t>
            </a:r>
            <a:r>
              <a:rPr lang="en-US" sz="2400" dirty="0"/>
              <a:t> of  Screenshot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System loads all users or claims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Renders them into a structured PDF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HR can download with one click</a:t>
            </a:r>
          </a:p>
        </p:txBody>
      </p:sp>
    </p:spTree>
    <p:extLst>
      <p:ext uri="{BB962C8B-B14F-4D97-AF65-F5344CB8AC3E}">
        <p14:creationId xmlns:p14="http://schemas.microsoft.com/office/powerpoint/2010/main" val="342662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EFD6-D224-E0DE-B510-DB3CB2C4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gradFill flip="none">
                  <a:gsLst>
                    <a:gs pos="0">
                      <a:srgbClr val="7162FE"/>
                    </a:gs>
                    <a:gs pos="100000">
                      <a:srgbClr val="F900A0">
                        <a:alpha val="70000"/>
                      </a:srgbClr>
                    </a:gs>
                  </a:gsLst>
                  <a:lin ang="0" scaled="1"/>
                  <a:tileRect/>
                </a:gradFill>
                <a:latin typeface="Sabon Next LT"/>
                <a:cs typeface="Sabon Next LT"/>
              </a:rPr>
              <a:t>Full System Demonstration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F4A63-25E1-BF90-1845-4F9501579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228600" indent="0">
              <a:buNone/>
            </a:pPr>
            <a:r>
              <a:rPr lang="en-US" dirty="0">
                <a:solidFill>
                  <a:srgbClr val="201449">
                    <a:alpha val="70000"/>
                  </a:srgbClr>
                </a:solidFill>
              </a:rPr>
              <a:t>The CMCS System has :</a:t>
            </a:r>
          </a:p>
          <a:p>
            <a:r>
              <a:rPr lang="en-US" sz="2200" dirty="0">
                <a:solidFill>
                  <a:srgbClr val="201449">
                    <a:alpha val="70000"/>
                  </a:srgbClr>
                </a:solidFill>
              </a:rPr>
              <a:t>Full claim workflow from submission to payment</a:t>
            </a:r>
          </a:p>
          <a:p>
            <a:r>
              <a:rPr lang="en-US" sz="2200" dirty="0">
                <a:solidFill>
                  <a:srgbClr val="201449">
                    <a:alpha val="70000"/>
                  </a:srgbClr>
                </a:solidFill>
              </a:rPr>
              <a:t>Multi-role approval chain</a:t>
            </a:r>
          </a:p>
          <a:p>
            <a:r>
              <a:rPr lang="en-US" sz="2200" dirty="0">
                <a:solidFill>
                  <a:srgbClr val="201449">
                    <a:alpha val="70000"/>
                  </a:srgbClr>
                </a:solidFill>
              </a:rPr>
              <a:t>Secure authentication</a:t>
            </a:r>
          </a:p>
          <a:p>
            <a:r>
              <a:rPr lang="en-US" sz="2200" dirty="0">
                <a:solidFill>
                  <a:srgbClr val="201449">
                    <a:alpha val="70000"/>
                  </a:srgbClr>
                </a:solidFill>
              </a:rPr>
              <a:t>Evidence management</a:t>
            </a:r>
          </a:p>
          <a:p>
            <a:r>
              <a:rPr lang="en-US" sz="2200" dirty="0">
                <a:solidFill>
                  <a:srgbClr val="201449">
                    <a:alpha val="70000"/>
                  </a:srgbClr>
                </a:solidFill>
              </a:rPr>
              <a:t>PDF reporting</a:t>
            </a:r>
          </a:p>
          <a:p>
            <a:r>
              <a:rPr lang="en-US" sz="2200" dirty="0">
                <a:solidFill>
                  <a:srgbClr val="201449">
                    <a:alpha val="70000"/>
                  </a:srgbClr>
                </a:solidFill>
              </a:rPr>
              <a:t>Robust search</a:t>
            </a:r>
          </a:p>
          <a:p>
            <a:r>
              <a:rPr lang="en-US" sz="2200" dirty="0">
                <a:solidFill>
                  <a:srgbClr val="201449">
                    <a:alpha val="70000"/>
                  </a:srgbClr>
                </a:solidFill>
              </a:rPr>
              <a:t>Clean, user-friendly interface</a:t>
            </a:r>
          </a:p>
          <a:p>
            <a:endParaRPr lang="en-US" dirty="0">
              <a:solidFill>
                <a:srgbClr val="201449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203520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LuminousVTI</vt:lpstr>
      <vt:lpstr>PROG6212 POE Part3 </vt:lpstr>
      <vt:lpstr>What this Presentation covers</vt:lpstr>
      <vt:lpstr>Part 2 </vt:lpstr>
      <vt:lpstr>Part 3</vt:lpstr>
      <vt:lpstr>System Architecture Overview</vt:lpstr>
      <vt:lpstr>Home Dashboard.</vt:lpstr>
      <vt:lpstr>Home Dashboard</vt:lpstr>
      <vt:lpstr>Login screen </vt:lpstr>
      <vt:lpstr>Login Screen </vt:lpstr>
      <vt:lpstr>Sessions + Role-Based Access Control</vt:lpstr>
      <vt:lpstr>Lecturer Page </vt:lpstr>
      <vt:lpstr>Lecturer Page </vt:lpstr>
      <vt:lpstr> Lecturer  Data Pull</vt:lpstr>
      <vt:lpstr>Coordinator Page </vt:lpstr>
      <vt:lpstr>Manager:  Coordinator-Approved Claims </vt:lpstr>
      <vt:lpstr>HR Page </vt:lpstr>
      <vt:lpstr>HR Page </vt:lpstr>
      <vt:lpstr>HR Creates &amp; Manages All Users  </vt:lpstr>
      <vt:lpstr>Pdf  generated by HR </vt:lpstr>
      <vt:lpstr> HR Generates Reports (PDF)</vt:lpstr>
      <vt:lpstr>The QuestPDF document layout class </vt:lpstr>
      <vt:lpstr>Full System Demonstration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609</cp:revision>
  <dcterms:created xsi:type="dcterms:W3CDTF">2025-11-19T22:44:39Z</dcterms:created>
  <dcterms:modified xsi:type="dcterms:W3CDTF">2025-11-20T12:01:45Z</dcterms:modified>
</cp:coreProperties>
</file>